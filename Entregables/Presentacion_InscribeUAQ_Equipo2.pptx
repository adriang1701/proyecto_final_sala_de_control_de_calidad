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Public Sans"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Alfredo (coordinación). Bloque 1 de 6, producto, usuarios y riesgos (2 min en total con las dos diapositivas siguientes). Guion de apertura (máx. 40 palabras): “Evaluamos InscribeUAQ para decidir si puede abrir inscripciones. La evidencia muestra sobrecupo, reglas académicas violadas y un flujo móvil bloqueado. Por ello recomendamos no liberar, hasta corregir seis defectos y medir la carga real.” Decir la decisión en el primer minuto; el resto de la exposición la defiende.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Alfredo. Contexto: la ventana de inscripción es corta y masiva (4,000 estudiantes en las primeras dos horas, Act. 4). El pago es externo y el módulo de cupos cambió un día antes del lanzamiento. Restricciones: no hay sistema real; todo es simulación académica. El servicio QA de pagos no estuvo disponible y no se permite generar tráfico masivo.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Bernardo (análisis de riesgos). Los 10 riesgos están en el expediente. Fuera del top 5 quedaron el pago desincronizado (R06, 15), el límite de 7 materias (R07, 12), la privacidad de sesión (R08, 12), la duplicidad (R09, 12) y el riesgo de proyecto: ambiente de pagos y datos (R10, 12). Si preguntan por la escala: en la Actividad 4 usamos 1 a 3; para el proyecto la llevamos a 1 a 5, como pide la plantilla, y conservamos el mismo orden de prioridad.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Gabriel (diseño y ejecución). Bloque 2 de 6, estrategia y cobertura (3 min con la siguiente diapositiva). Idea clave: probar más no es probar mejor. Las tablas de decisión y los estados encontraron defectos que no salen al probar reglas aisladas (D6 y pago tardío). Criterios de salida: 100% de casos de R01–R05 ejecutados, 0 defectos críticos o altos abiertos, ningún sobrecupo en 30 ráfagas concurrentes y carga con error menor al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Gabriel. Porcentaje aprobado: 3 de 12 ejecutados (25%). Ejecutados: 12 de 15 (80%). CP-04 falló en la 0.6 (permitía una octava materia) y aprobó en la 0.6.1; pero la misma corrección rompió la séptima materia válida (CP-05). Por eso una prueba de confirmación sola no basta: se necesita regresión. Los bloqueos no son defectos del producto: son limitaciones del ambiente, y dejan sin evidencia los riesgos R02 y R06.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Adrián (gestión de defectos). Bloque 3 de 6, evidencias y defectos (4 min con la siguiente). Por qué es el hallazgo decisivo: es silencioso (ambos estudiantes ven “Lugar confirmado”), afecta horarios, listas y pagos, y ocurre justo en el escenario predecible de la apertura: miles compitiendo por los últimos lugares. “Intermitente” no significa “a veces funciona”: con 4,000 usuarios la frecuencia sólo puede subir. Límite de la evidencia: 3 repeticiones manuales en simulación; el prototipo demuestra el mecanismo, no mide el producto. Recomendación: reserva atómica y AUT-03 como prueba bloqueante.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Adrián. Todos los de la tabla tienen prioridad inmediata: deben corregirse antes de abrir inscripciones. Diferenciamos tipos: 2 mejoras (sesión vencida borra la tira; filtros que se reinician), 2 limitaciones de ambiente (pagos QA y carga), 1 error de proceso (CP6-06 no se inició) y 1 falso positivo (el doble clic no duplicó la reserva; sólo duplicó el mensaje). No atribuimos causas técnicas sin evidencia: describimos lo observado y su frecuencia.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Adrián y Alfredo (métricas y defensa). Bloque 4 de 6, automatización, IA y métricas (2 min para las tres diapositivas). Por qué la concurrencia primero: es el riesgo de mayor exposición y a mano sólo se ve 2 de 3 veces. El script lo vuelve un invariante verificable: nunca más de 35 inscritos ni más de un éxito. Por qué no automatizamos el pago aún: la pasarela externa genera falsos positivos y es cara de mantener (índice 3.3 en la Act. 10). Limitación honesta: el prototipo modela la regla; no prueba la plataforma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Alfredo. Herramienta: Claude (Claude Code). Lo que tuvimos que corregir o validar: la IA re-escaló P×I de 1–3 a 1–5 y asignó IDs nuevos (DEF-06, D01–D10, M01, L01, FP-01); el equipo los revisó antes de aceptarlos. Respuesta a “¿qué dependió demasiado de la IA?”: la redacción y la consolidación; no la evidencia, que viene de las rondas 0.6, 0.6.1 y 0.7 y de la corrida real del prototipo.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Adrián. Fortaleza: el backend respeta la idempotencia del pago (E7-02) y el reintento libera el cupo (E7-04). Dato que podría engañar: el 35/35 del prototipo con reserva atómica no prueba el producto; sólo demuestra que la corrección es viable. Y “2 de 3” no es “funciona casi siempre”. Información aún desconocida: comportamiento con 4,000 usuarios reales y confirmación con pago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Alfredo. Bloque 5 de 6, dictamen (2 min). Declaración ejecutiva: “Recomendamos no liberar InscribeUAQ. De 15 casos, 12 se ejecutaron y sólo 3 aprobaron. Persisten dos defectos críticos: confirmaciones simultáneas superan el cupo de 35 y un pago tardío reactiva solicitudes canceladas. Además, el sistema acepta materias sin prerrequisito, rechaza la séptima materia válida y el botón Confirmar queda fuera de la pantalla en móvil. La carga de 4,000 estudiantes y el pago real no pudieron probarse. Reevaluaremos cuando D01–D06 estén corregidos, la regresión esté en verde y se ejecuten la carga y el pago en sandbox.” Por qué no “liberar con condiciones”: un monitoreo detecta el sobrecupo después de que ocurre; no lo evita, y el daño (estudiantes sin lugar real, cobros) es difícil de revertir en plena ventana.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 todo el equipo; cada integrante toma la pregunta de su rol. Riesgos (Bernardo): cobertura y R02. Ejecución (Gabriel): qué repetir y por qué. Defectos (Adrián): reproducibilidad y severidad. Coordinación (Alfredo): IA y decisión. Reconocer límites: todo es simulación académica; el prototipo modela la regla, no la plataforma; la carga y el pago real no tienen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2B"/>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21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12B"/>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21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6B"/>
                </a:solidFill>
                <a:latin typeface="Public Sans" pitchFamily="34" charset="0"/>
                <a:ea typeface="Public Sans" pitchFamily="34" charset="-122"/>
                <a:cs typeface="Public Sans" pitchFamily="34" charset="-120"/>
              </a:rPr>
              <a:t>PROYECTO FINAL · SALA DE CONTROL DE CALIDAD</a:t>
            </a:r>
            <a:endParaRPr lang="en-US" sz="1200" dirty="0"/>
          </a:p>
        </p:txBody>
      </p:sp>
      <p:sp>
        <p:nvSpPr>
          <p:cNvPr id="3" name="Text 1"/>
          <p:cNvSpPr/>
          <p:nvPr>
            <p:ph type="title"/>
          </p:nvPr>
        </p:nvSpPr>
        <p:spPr>
          <a:xfrm>
            <a:off x="812800" y="223907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F"/>
                </a:solidFill>
                <a:latin typeface="Domine" pitchFamily="18" charset="0"/>
                <a:ea typeface="Domine" pitchFamily="18" charset="-122"/>
                <a:cs typeface="Domine" pitchFamily="18" charset="-120"/>
              </a:rPr>
              <a:t>InscribeUAQ no está listo para liberarse</a:t>
            </a:r>
            <a:endParaRPr lang="en-US" sz="4800" dirty="0"/>
          </a:p>
        </p:txBody>
      </p:sp>
      <p:sp>
        <p:nvSpPr>
          <p:cNvPr id="4" name="Text 2"/>
          <p:cNvSpPr/>
          <p:nvPr/>
        </p:nvSpPr>
        <p:spPr>
          <a:xfrm>
            <a:off x="812800" y="383411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D8"/>
                </a:solidFill>
                <a:latin typeface="Public Sans" pitchFamily="34" charset="0"/>
                <a:ea typeface="Public Sans" pitchFamily="34" charset="-122"/>
                <a:cs typeface="Public Sans" pitchFamily="34" charset="-120"/>
              </a:rPr>
              <a:t>Dictamen del Equipo 2 · Plataforma universitaria de inscripciones</a:t>
            </a:r>
            <a:endParaRPr lang="en-US" sz="1600" dirty="0"/>
          </a:p>
          <a:p>
            <a:pPr algn="l" indent="0" marL="0">
              <a:lnSpc>
                <a:spcPts val="2240"/>
              </a:lnSpc>
              <a:buNone/>
            </a:pPr>
            <a:r>
              <a:rPr lang="en-US" sz="1600" dirty="0">
                <a:solidFill>
                  <a:srgbClr val="C9D3D8"/>
                </a:solidFill>
                <a:latin typeface="Public Sans" pitchFamily="34" charset="0"/>
                <a:ea typeface="Public Sans" pitchFamily="34" charset="-122"/>
                <a:cs typeface="Public Sans" pitchFamily="34" charset="-120"/>
              </a:rPr>
              <a:t>Versiones 0.6, 0.6.1 y 0.7 (simulación académica)</a:t>
            </a:r>
            <a:endParaRPr lang="en-US" sz="1600" dirty="0"/>
          </a:p>
        </p:txBody>
      </p:sp>
      <p:sp>
        <p:nvSpPr>
          <p:cNvPr id="5" name="Shape 3"/>
          <p:cNvSpPr/>
          <p:nvPr/>
        </p:nvSpPr>
        <p:spPr>
          <a:xfrm>
            <a:off x="812800" y="5622330"/>
            <a:ext cx="10566400" cy="0"/>
          </a:xfrm>
          <a:prstGeom prst="line">
            <a:avLst/>
          </a:prstGeom>
          <a:noFill/>
          <a:ln w="12700">
            <a:solidFill>
              <a:srgbClr val="3A4E5C"/>
            </a:solidFill>
            <a:prstDash val="solid"/>
          </a:ln>
        </p:spPr>
      </p:sp>
      <p:sp>
        <p:nvSpPr>
          <p:cNvPr id="6" name="Text 4"/>
          <p:cNvSpPr/>
          <p:nvPr/>
        </p:nvSpPr>
        <p:spPr>
          <a:xfrm>
            <a:off x="812800" y="5831880"/>
            <a:ext cx="20444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8"/>
                </a:solidFill>
                <a:latin typeface="Public Sans" pitchFamily="34" charset="0"/>
                <a:ea typeface="Public Sans" pitchFamily="34" charset="-122"/>
                <a:cs typeface="Public Sans" pitchFamily="34" charset="-120"/>
              </a:rPr>
              <a:t>Alfredo Ramírez Jiménez</a:t>
            </a:r>
            <a:endParaRPr lang="en-US" sz="1200" dirty="0"/>
          </a:p>
        </p:txBody>
      </p:sp>
      <p:sp>
        <p:nvSpPr>
          <p:cNvPr id="7" name="Text 5"/>
          <p:cNvSpPr/>
          <p:nvPr/>
        </p:nvSpPr>
        <p:spPr>
          <a:xfrm>
            <a:off x="2857202" y="5831880"/>
            <a:ext cx="17024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8"/>
                </a:solidFill>
                <a:latin typeface="Public Sans" pitchFamily="34" charset="0"/>
                <a:ea typeface="Public Sans" pitchFamily="34" charset="-122"/>
                <a:cs typeface="Public Sans" pitchFamily="34" charset="-120"/>
              </a:rPr>
              <a:t>Adrián García López</a:t>
            </a:r>
            <a:endParaRPr lang="en-US" sz="1200" dirty="0"/>
          </a:p>
        </p:txBody>
      </p:sp>
      <p:sp>
        <p:nvSpPr>
          <p:cNvPr id="8" name="Text 6"/>
          <p:cNvSpPr/>
          <p:nvPr/>
        </p:nvSpPr>
        <p:spPr>
          <a:xfrm>
            <a:off x="4580731" y="5831880"/>
            <a:ext cx="2482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8"/>
                </a:solidFill>
                <a:latin typeface="Public Sans" pitchFamily="34" charset="0"/>
                <a:ea typeface="Public Sans" pitchFamily="34" charset="-122"/>
                <a:cs typeface="Public Sans" pitchFamily="34" charset="-120"/>
              </a:rPr>
              <a:t>Gabriel Martín Campos Aguilar</a:t>
            </a:r>
            <a:endParaRPr lang="en-US" sz="1200" dirty="0"/>
          </a:p>
        </p:txBody>
      </p:sp>
      <p:sp>
        <p:nvSpPr>
          <p:cNvPr id="9" name="Text 7"/>
          <p:cNvSpPr/>
          <p:nvPr/>
        </p:nvSpPr>
        <p:spPr>
          <a:xfrm>
            <a:off x="7063284" y="5831880"/>
            <a:ext cx="2663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8"/>
                </a:solidFill>
                <a:latin typeface="Public Sans" pitchFamily="34" charset="0"/>
                <a:ea typeface="Public Sans" pitchFamily="34" charset="-122"/>
                <a:cs typeface="Public Sans" pitchFamily="34" charset="-120"/>
              </a:rPr>
              <a:t>Bernardo David Nolasco Vargas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4,000 estudiantes, dos horas y casi todos desde el celular</a:t>
            </a:r>
            <a:endParaRPr lang="en-US" sz="3200" dirty="0"/>
          </a:p>
        </p:txBody>
      </p:sp>
      <p:sp>
        <p:nvSpPr>
          <p:cNvPr id="3" name="Shape 1"/>
          <p:cNvSpPr/>
          <p:nvPr/>
        </p:nvSpPr>
        <p:spPr>
          <a:xfrm>
            <a:off x="815975" y="2106216"/>
            <a:ext cx="3380284" cy="2711450"/>
          </a:xfrm>
          <a:prstGeom prst="roundRect">
            <a:avLst>
              <a:gd name="adj" fmla="val 3630"/>
            </a:avLst>
          </a:prstGeom>
          <a:solidFill>
            <a:srgbClr val="FFFFFF"/>
          </a:solidFill>
          <a:ln w="6350">
            <a:solidFill>
              <a:srgbClr val="DCD8CF"/>
            </a:solidFill>
            <a:prstDash val="solid"/>
          </a:ln>
        </p:spPr>
      </p:sp>
      <p:pic>
        <p:nvPicPr>
          <p:cNvPr id="4" name="Image 0" descr="Users">    </p:cNvPr>
          <p:cNvPicPr>
            <a:picLocks noChangeAspect="1"/>
          </p:cNvPicPr>
          <p:nvPr/>
        </p:nvPicPr>
        <p:blipFill>
          <a:blip r:embed="rId1"/>
          <a:srcRect l="0" r="0" t="0" b="0"/>
          <a:stretch/>
        </p:blipFill>
        <p:spPr>
          <a:xfrm>
            <a:off x="1073150" y="2363391"/>
            <a:ext cx="355600" cy="355600"/>
          </a:xfrm>
          <a:prstGeom prst="rect">
            <a:avLst/>
          </a:prstGeom>
        </p:spPr>
      </p:pic>
      <p:sp>
        <p:nvSpPr>
          <p:cNvPr id="5" name="Text 2"/>
          <p:cNvSpPr/>
          <p:nvPr/>
        </p:nvSpPr>
        <p:spPr>
          <a:xfrm>
            <a:off x="1073150" y="282059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2B"/>
                </a:solidFill>
                <a:latin typeface="Public Sans" pitchFamily="34" charset="0"/>
                <a:ea typeface="Public Sans" pitchFamily="34" charset="-122"/>
                <a:cs typeface="Public Sans" pitchFamily="34" charset="-120"/>
              </a:rPr>
              <a:t>Quién lo usa</a:t>
            </a:r>
            <a:endParaRPr lang="en-US" sz="2000" dirty="0"/>
          </a:p>
        </p:txBody>
      </p:sp>
      <p:sp>
        <p:nvSpPr>
          <p:cNvPr id="6" name="Text 3"/>
          <p:cNvSpPr/>
          <p:nvPr/>
        </p:nvSpPr>
        <p:spPr>
          <a:xfrm>
            <a:off x="1073150" y="322699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35D"/>
                </a:solidFill>
                <a:latin typeface="Public Sans" pitchFamily="34" charset="0"/>
                <a:ea typeface="Public Sans" pitchFamily="34" charset="-122"/>
                <a:cs typeface="Public Sans" pitchFamily="34" charset="-120"/>
              </a:rPr>
              <a:t>Estudiantes, sobre todo en móvil; control escolar y soporte.</a:t>
            </a:r>
            <a:endParaRPr lang="en-US" sz="1500" dirty="0"/>
          </a:p>
        </p:txBody>
      </p:sp>
      <p:sp>
        <p:nvSpPr>
          <p:cNvPr id="7" name="Shape 4"/>
          <p:cNvSpPr/>
          <p:nvPr/>
        </p:nvSpPr>
        <p:spPr>
          <a:xfrm>
            <a:off x="4405809" y="2106216"/>
            <a:ext cx="3380383" cy="2711450"/>
          </a:xfrm>
          <a:prstGeom prst="roundRect">
            <a:avLst>
              <a:gd name="adj" fmla="val 3630"/>
            </a:avLst>
          </a:prstGeom>
          <a:solidFill>
            <a:srgbClr val="FFFFFF"/>
          </a:solidFill>
          <a:ln w="6350">
            <a:solidFill>
              <a:srgbClr val="DCD8CF"/>
            </a:solidFill>
            <a:prstDash val="solid"/>
          </a:ln>
        </p:spPr>
      </p:sp>
      <p:pic>
        <p:nvPicPr>
          <p:cNvPr id="8" name="Image 1" descr="GraduationCap">    </p:cNvPr>
          <p:cNvPicPr>
            <a:picLocks noChangeAspect="1"/>
          </p:cNvPicPr>
          <p:nvPr/>
        </p:nvPicPr>
        <p:blipFill>
          <a:blip r:embed="rId2"/>
          <a:srcRect l="0" r="0" t="0" b="0"/>
          <a:stretch/>
        </p:blipFill>
        <p:spPr>
          <a:xfrm>
            <a:off x="4662984" y="2363391"/>
            <a:ext cx="355600" cy="355600"/>
          </a:xfrm>
          <a:prstGeom prst="rect">
            <a:avLst/>
          </a:prstGeom>
        </p:spPr>
      </p:pic>
      <p:sp>
        <p:nvSpPr>
          <p:cNvPr id="9" name="Text 5"/>
          <p:cNvSpPr/>
          <p:nvPr/>
        </p:nvSpPr>
        <p:spPr>
          <a:xfrm>
            <a:off x="4662984" y="2820591"/>
            <a:ext cx="29520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2B"/>
                </a:solidFill>
                <a:latin typeface="Public Sans" pitchFamily="34" charset="0"/>
                <a:ea typeface="Public Sans" pitchFamily="34" charset="-122"/>
                <a:cs typeface="Public Sans" pitchFamily="34" charset="-120"/>
              </a:rPr>
              <a:t>Qué debe lograr</a:t>
            </a:r>
            <a:endParaRPr lang="en-US" sz="2000" dirty="0"/>
          </a:p>
        </p:txBody>
      </p:sp>
      <p:sp>
        <p:nvSpPr>
          <p:cNvPr id="10" name="Text 6"/>
          <p:cNvSpPr/>
          <p:nvPr/>
        </p:nvSpPr>
        <p:spPr>
          <a:xfrm>
            <a:off x="4662984" y="3226991"/>
            <a:ext cx="2952014"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35D"/>
                </a:solidFill>
                <a:latin typeface="Public Sans" pitchFamily="34" charset="0"/>
                <a:ea typeface="Public Sans" pitchFamily="34" charset="-122"/>
                <a:cs typeface="Public Sans" pitchFamily="34" charset="-120"/>
              </a:rPr>
              <a:t>Inscribir materias con lugar garantizado: seriación, cupo de 35, horario sin choques y máximo 7 materias; pagar y descargar el horario.</a:t>
            </a:r>
            <a:endParaRPr lang="en-US" sz="1500" dirty="0"/>
          </a:p>
        </p:txBody>
      </p:sp>
      <p:sp>
        <p:nvSpPr>
          <p:cNvPr id="11" name="Shape 7"/>
          <p:cNvSpPr/>
          <p:nvPr/>
        </p:nvSpPr>
        <p:spPr>
          <a:xfrm>
            <a:off x="7995741" y="2106216"/>
            <a:ext cx="3380284" cy="2711450"/>
          </a:xfrm>
          <a:prstGeom prst="roundRect">
            <a:avLst>
              <a:gd name="adj" fmla="val 3630"/>
            </a:avLst>
          </a:prstGeom>
          <a:solidFill>
            <a:srgbClr val="FFFFFF"/>
          </a:solidFill>
          <a:ln w="6350">
            <a:solidFill>
              <a:srgbClr val="DCD8CF"/>
            </a:solidFill>
            <a:prstDash val="solid"/>
          </a:ln>
        </p:spPr>
      </p:sp>
      <p:pic>
        <p:nvPicPr>
          <p:cNvPr id="12" name="Image 2" descr="Warning">    </p:cNvPr>
          <p:cNvPicPr>
            <a:picLocks noChangeAspect="1"/>
          </p:cNvPicPr>
          <p:nvPr/>
        </p:nvPicPr>
        <p:blipFill>
          <a:blip r:embed="rId3"/>
          <a:srcRect l="0" r="0" t="0" b="0"/>
          <a:stretch/>
        </p:blipFill>
        <p:spPr>
          <a:xfrm>
            <a:off x="8252916" y="2363391"/>
            <a:ext cx="355600" cy="355600"/>
          </a:xfrm>
          <a:prstGeom prst="rect">
            <a:avLst/>
          </a:prstGeom>
        </p:spPr>
      </p:pic>
      <p:sp>
        <p:nvSpPr>
          <p:cNvPr id="13" name="Text 8"/>
          <p:cNvSpPr/>
          <p:nvPr/>
        </p:nvSpPr>
        <p:spPr>
          <a:xfrm>
            <a:off x="8252916" y="282059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2B"/>
                </a:solidFill>
                <a:latin typeface="Public Sans" pitchFamily="34" charset="0"/>
                <a:ea typeface="Public Sans" pitchFamily="34" charset="-122"/>
                <a:cs typeface="Public Sans" pitchFamily="34" charset="-120"/>
              </a:rPr>
              <a:t>Qué es una falla grave</a:t>
            </a:r>
            <a:endParaRPr lang="en-US" sz="2000" dirty="0"/>
          </a:p>
        </p:txBody>
      </p:sp>
      <p:sp>
        <p:nvSpPr>
          <p:cNvPr id="14" name="Text 9"/>
          <p:cNvSpPr/>
          <p:nvPr/>
        </p:nvSpPr>
        <p:spPr>
          <a:xfrm>
            <a:off x="8252916" y="3226991"/>
            <a:ext cx="295191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35D"/>
                </a:solidFill>
                <a:latin typeface="Public Sans" pitchFamily="34" charset="0"/>
                <a:ea typeface="Public Sans" pitchFamily="34" charset="-122"/>
                <a:cs typeface="Public Sans" pitchFamily="34" charset="-120"/>
              </a:rPr>
              <a:t>Inscrito sin lugar real, pago sin inscripción, selección perdida o no poder entrar durante la ventana oficial.</a:t>
            </a:r>
            <a:endParaRPr lang="en-US" sz="1500" dirty="0"/>
          </a:p>
        </p:txBody>
      </p:sp>
      <p:sp>
        <p:nvSpPr>
          <p:cNvPr id="15"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Modalidad: simulación navegable + prototipo propio; sin datos reales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Cinco riesgos concentran la exposición más alta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476500"/>
        </p:xfrm>
        <a:graphic>
          <a:graphicData uri="http://schemas.openxmlformats.org/drawingml/2006/table">
            <a:tbl>
              <a:tblPr/>
              <a:tblGrid>
                <a:gridCol w="1055370"/>
                <a:gridCol w="5698998"/>
                <a:gridCol w="1266444"/>
                <a:gridCol w="1266444"/>
                <a:gridCol w="1266444"/>
              </a:tblGrid>
              <a:tr h="412750">
                <a:tc>
                  <a:txBody>
                    <a:bodyPr/>
                    <a:lstStyle/>
                    <a:p>
                      <a:pPr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ID</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Riesgo prioritario</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algn="ctr"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P</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algn="ctr"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I</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algn="ctr"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P×I</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r>
              <a:tr h="412750">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R01</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Sobrecupo por confirmaciones simultáneas</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5</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20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R02</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Saturación: 4,000 estudiantes en 2 h</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5</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20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R03</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Seriación mal evaluada (también en combinación)</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16</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R04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Pérdida de la selección (red, doble clic, sesión)</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16</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R05</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Flujo móvil 390×844 bloqueado</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4</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16</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37892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De 10 riesgos identificados. Desempate: primero el daño más difícil de detectar o recuperar (sobrecupo y seriación son silenciosos).</a:t>
            </a:r>
            <a:endParaRPr lang="en-US" sz="1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matriz de riesgos del expediente, sección 5 (escala 1 a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Cada riesgo recibió la técnica que podía revelarlo</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701727"/>
        </p:xfrm>
        <a:graphic>
          <a:graphicData uri="http://schemas.openxmlformats.org/drawingml/2006/table">
            <a:tbl>
              <a:tblPr/>
              <a:tblGrid>
                <a:gridCol w="4221480"/>
                <a:gridCol w="1688592"/>
                <a:gridCol w="4643628"/>
              </a:tblGrid>
              <a:tr h="385961">
                <a:tc>
                  <a:txBody>
                    <a:bodyPr/>
                    <a:lstStyle/>
                    <a:p>
                      <a:pPr indent="0" marL="0">
                        <a:lnSpc>
                          <a:spcPts val="1960"/>
                        </a:lnSpc>
                        <a:buNone/>
                      </a:pPr>
                      <a:r>
                        <a:rPr lang="en-US" sz="1400" b="1" dirty="0">
                          <a:solidFill>
                            <a:srgbClr val="14212B"/>
                          </a:solidFill>
                          <a:latin typeface="Public Sans" pitchFamily="34" charset="0"/>
                          <a:ea typeface="Public Sans" pitchFamily="34" charset="-122"/>
                          <a:cs typeface="Public Sans" pitchFamily="34" charset="-120"/>
                        </a:rPr>
                        <a:t>Técnica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960"/>
                        </a:lnSpc>
                        <a:buNone/>
                      </a:pPr>
                      <a:r>
                        <a:rPr lang="en-US" sz="1400" b="1" dirty="0">
                          <a:solidFill>
                            <a:srgbClr val="14212B"/>
                          </a:solidFill>
                          <a:latin typeface="Public Sans" pitchFamily="34" charset="0"/>
                          <a:ea typeface="Public Sans" pitchFamily="34" charset="-122"/>
                          <a:cs typeface="Public Sans" pitchFamily="34" charset="-120"/>
                        </a:rPr>
                        <a:t>Riesgo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960"/>
                        </a:lnSpc>
                        <a:buNone/>
                      </a:pPr>
                      <a:r>
                        <a:rPr lang="en-US" sz="1400" b="1" dirty="0">
                          <a:solidFill>
                            <a:srgbClr val="14212B"/>
                          </a:solidFill>
                          <a:latin typeface="Public Sans" pitchFamily="34" charset="0"/>
                          <a:ea typeface="Public Sans" pitchFamily="34" charset="-122"/>
                          <a:cs typeface="Public Sans" pitchFamily="34" charset="-120"/>
                        </a:rPr>
                        <a:t>Qué podía revelar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Valores límite y particiones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R01, R03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Cupo 34→35, materias 6→7 y 7→8</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Tabla de decisión D1–D8</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Fallas que sólo aparecen al combinar reglas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Transición de estados T1–T5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Pagos tardíos o duplicados que cambian el estado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Exploratorias PE01 y PE02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R04, R05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Doble clic, corte de red, sesión vencida, móvil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Concurrencia automatizada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Sobrecupo que a mano es intermitente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Carga (diseñada, bloqueada)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R02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Public Sans" pitchFamily="34" charset="0"/>
                          <a:ea typeface="Public Sans" pitchFamily="34" charset="-122"/>
                          <a:cs typeface="Public Sans" pitchFamily="34" charset="-120"/>
                        </a:rPr>
                        <a:t>Saturación del acceso con 4,000 usuarios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604147"/>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5535D"/>
                </a:solidFill>
                <a:latin typeface="Public Sans" pitchFamily="34" charset="0"/>
                <a:ea typeface="Public Sans" pitchFamily="34" charset="-122"/>
                <a:cs typeface="Public Sans" pitchFamily="34" charset="-120"/>
              </a:rPr>
              <a:t>Excluido:</a:t>
            </a:r>
            <a:r>
              <a:rPr lang="en-US" sz="1400" dirty="0">
                <a:solidFill>
                  <a:srgbClr val="45535D"/>
                </a:solidFill>
                <a:latin typeface="Public Sans" pitchFamily="34" charset="0"/>
                <a:ea typeface="Public Sans" pitchFamily="34" charset="-122"/>
                <a:cs typeface="Public Sans" pitchFamily="34" charset="-120"/>
              </a:rPr>
              <a:t> pasarela bancaria real, carga real masiva, todos los modelos de móvil y caducidad de reservas; cada exclusión queda como riesgo residual.</a:t>
            </a:r>
            <a:endParaRPr lang="en-US" sz="1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estrategia de pruebas, sección 6; Act. 5–8 y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De 12 casos ejecutados, sólo 3 aprobaron</a:t>
            </a:r>
            <a:endParaRPr lang="en-US" sz="3200" dirty="0"/>
          </a:p>
        </p:txBody>
      </p:sp>
      <p:sp>
        <p:nvSpPr>
          <p:cNvPr id="3" name="Shape 1"/>
          <p:cNvSpPr/>
          <p:nvPr/>
        </p:nvSpPr>
        <p:spPr>
          <a:xfrm>
            <a:off x="815975" y="1638895"/>
            <a:ext cx="2482850" cy="2414091"/>
          </a:xfrm>
          <a:prstGeom prst="roundRect">
            <a:avLst>
              <a:gd name="adj" fmla="val 4077"/>
            </a:avLst>
          </a:prstGeom>
          <a:solidFill>
            <a:srgbClr val="FFFFFF"/>
          </a:solidFill>
          <a:ln w="6350">
            <a:solidFill>
              <a:srgbClr val="DCD8CF"/>
            </a:solidFill>
            <a:prstDash val="solid"/>
          </a:ln>
        </p:spPr>
      </p:sp>
      <p:sp>
        <p:nvSpPr>
          <p:cNvPr id="4" name="Text 2"/>
          <p:cNvSpPr/>
          <p:nvPr/>
        </p:nvSpPr>
        <p:spPr>
          <a:xfrm>
            <a:off x="1073150" y="189607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F95"/>
                </a:solidFill>
                <a:latin typeface="Domine" pitchFamily="18" charset="0"/>
                <a:ea typeface="Domine" pitchFamily="18" charset="-122"/>
                <a:cs typeface="Domine" pitchFamily="18" charset="-120"/>
              </a:rPr>
              <a:t>3</a:t>
            </a:r>
            <a:endParaRPr lang="en-US" sz="6000" dirty="0"/>
          </a:p>
        </p:txBody>
      </p:sp>
      <p:sp>
        <p:nvSpPr>
          <p:cNvPr id="5" name="Text 3"/>
          <p:cNvSpPr/>
          <p:nvPr/>
        </p:nvSpPr>
        <p:spPr>
          <a:xfrm>
            <a:off x="1073150" y="2785070"/>
            <a:ext cx="20275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Aprobados</a:t>
            </a:r>
            <a:endParaRPr lang="en-US" sz="1500" dirty="0"/>
          </a:p>
        </p:txBody>
      </p:sp>
      <p:sp>
        <p:nvSpPr>
          <p:cNvPr id="6" name="Text 4"/>
          <p:cNvSpPr/>
          <p:nvPr/>
        </p:nvSpPr>
        <p:spPr>
          <a:xfrm>
            <a:off x="1073150" y="3102570"/>
            <a:ext cx="202755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35D"/>
                </a:solidFill>
                <a:latin typeface="Public Sans" pitchFamily="34" charset="0"/>
                <a:ea typeface="Public Sans" pitchFamily="34" charset="-122"/>
                <a:cs typeface="Public Sans" pitchFamily="34" charset="-120"/>
              </a:rPr>
              <a:t>CP-01, CP-04 (tras 0.6.1), CP-07</a:t>
            </a:r>
            <a:endParaRPr lang="en-US" sz="1300" dirty="0"/>
          </a:p>
        </p:txBody>
      </p:sp>
      <p:sp>
        <p:nvSpPr>
          <p:cNvPr id="7" name="Shape 5"/>
          <p:cNvSpPr/>
          <p:nvPr/>
        </p:nvSpPr>
        <p:spPr>
          <a:xfrm>
            <a:off x="3508375" y="1638895"/>
            <a:ext cx="2482850" cy="2414091"/>
          </a:xfrm>
          <a:prstGeom prst="roundRect">
            <a:avLst>
              <a:gd name="adj" fmla="val 4077"/>
            </a:avLst>
          </a:prstGeom>
          <a:solidFill>
            <a:srgbClr val="FFFFFF"/>
          </a:solidFill>
          <a:ln w="6350">
            <a:solidFill>
              <a:srgbClr val="DCD8CF"/>
            </a:solidFill>
            <a:prstDash val="solid"/>
          </a:ln>
        </p:spPr>
      </p:sp>
      <p:sp>
        <p:nvSpPr>
          <p:cNvPr id="8" name="Text 6"/>
          <p:cNvSpPr/>
          <p:nvPr/>
        </p:nvSpPr>
        <p:spPr>
          <a:xfrm>
            <a:off x="3765550" y="189607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C2541E"/>
                </a:solidFill>
                <a:latin typeface="Domine" pitchFamily="18" charset="0"/>
                <a:ea typeface="Domine" pitchFamily="18" charset="-122"/>
                <a:cs typeface="Domine" pitchFamily="18" charset="-120"/>
              </a:rPr>
              <a:t>9</a:t>
            </a:r>
            <a:endParaRPr lang="en-US" sz="6000" dirty="0"/>
          </a:p>
        </p:txBody>
      </p:sp>
      <p:sp>
        <p:nvSpPr>
          <p:cNvPr id="9" name="Text 7"/>
          <p:cNvSpPr/>
          <p:nvPr/>
        </p:nvSpPr>
        <p:spPr>
          <a:xfrm>
            <a:off x="3765550" y="2785070"/>
            <a:ext cx="20275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Fallidos</a:t>
            </a:r>
            <a:endParaRPr lang="en-US" sz="1500" dirty="0"/>
          </a:p>
        </p:txBody>
      </p:sp>
      <p:sp>
        <p:nvSpPr>
          <p:cNvPr id="10" name="Text 8"/>
          <p:cNvSpPr/>
          <p:nvPr/>
        </p:nvSpPr>
        <p:spPr>
          <a:xfrm>
            <a:off x="3765550" y="3102570"/>
            <a:ext cx="202755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35D"/>
                </a:solidFill>
                <a:latin typeface="Public Sans" pitchFamily="34" charset="0"/>
                <a:ea typeface="Public Sans" pitchFamily="34" charset="-122"/>
                <a:cs typeface="Public Sans" pitchFamily="34" charset="-120"/>
              </a:rPr>
              <a:t>Reglas, concurrencia, estados, móvil y privacidad</a:t>
            </a:r>
            <a:endParaRPr lang="en-US" sz="1300" dirty="0"/>
          </a:p>
        </p:txBody>
      </p:sp>
      <p:sp>
        <p:nvSpPr>
          <p:cNvPr id="11" name="Shape 9"/>
          <p:cNvSpPr/>
          <p:nvPr/>
        </p:nvSpPr>
        <p:spPr>
          <a:xfrm>
            <a:off x="6200775" y="1638895"/>
            <a:ext cx="2482850" cy="2414091"/>
          </a:xfrm>
          <a:prstGeom prst="roundRect">
            <a:avLst>
              <a:gd name="adj" fmla="val 4077"/>
            </a:avLst>
          </a:prstGeom>
          <a:solidFill>
            <a:srgbClr val="FFFFFF"/>
          </a:solidFill>
          <a:ln w="6350">
            <a:solidFill>
              <a:srgbClr val="DCD8CF"/>
            </a:solidFill>
            <a:prstDash val="solid"/>
          </a:ln>
        </p:spPr>
      </p:sp>
      <p:sp>
        <p:nvSpPr>
          <p:cNvPr id="12" name="Text 10"/>
          <p:cNvSpPr/>
          <p:nvPr/>
        </p:nvSpPr>
        <p:spPr>
          <a:xfrm>
            <a:off x="6457950" y="189607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45535D"/>
                </a:solidFill>
                <a:latin typeface="Domine" pitchFamily="18" charset="0"/>
                <a:ea typeface="Domine" pitchFamily="18" charset="-122"/>
                <a:cs typeface="Domine" pitchFamily="18" charset="-120"/>
              </a:rPr>
              <a:t>2</a:t>
            </a:r>
            <a:endParaRPr lang="en-US" sz="6000" dirty="0"/>
          </a:p>
        </p:txBody>
      </p:sp>
      <p:sp>
        <p:nvSpPr>
          <p:cNvPr id="13" name="Text 11"/>
          <p:cNvSpPr/>
          <p:nvPr/>
        </p:nvSpPr>
        <p:spPr>
          <a:xfrm>
            <a:off x="6457950" y="2785070"/>
            <a:ext cx="20275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Bloqueados</a:t>
            </a:r>
            <a:endParaRPr lang="en-US" sz="1500" dirty="0"/>
          </a:p>
        </p:txBody>
      </p:sp>
      <p:sp>
        <p:nvSpPr>
          <p:cNvPr id="14" name="Text 12"/>
          <p:cNvSpPr/>
          <p:nvPr/>
        </p:nvSpPr>
        <p:spPr>
          <a:xfrm>
            <a:off x="6457950" y="3102570"/>
            <a:ext cx="202755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35D"/>
                </a:solidFill>
                <a:latin typeface="Public Sans" pitchFamily="34" charset="0"/>
                <a:ea typeface="Public Sans" pitchFamily="34" charset="-122"/>
                <a:cs typeface="Public Sans" pitchFamily="34" charset="-120"/>
              </a:rPr>
              <a:t>CP-06 pagos QA caído · CP-11 sin ambiente de carga</a:t>
            </a:r>
            <a:endParaRPr lang="en-US" sz="1300" dirty="0"/>
          </a:p>
        </p:txBody>
      </p:sp>
      <p:sp>
        <p:nvSpPr>
          <p:cNvPr id="15" name="Shape 13"/>
          <p:cNvSpPr/>
          <p:nvPr/>
        </p:nvSpPr>
        <p:spPr>
          <a:xfrm>
            <a:off x="8893175" y="1638895"/>
            <a:ext cx="2482850" cy="2414091"/>
          </a:xfrm>
          <a:prstGeom prst="roundRect">
            <a:avLst>
              <a:gd name="adj" fmla="val 4077"/>
            </a:avLst>
          </a:prstGeom>
          <a:solidFill>
            <a:srgbClr val="FFFFFF"/>
          </a:solidFill>
          <a:ln w="6350">
            <a:solidFill>
              <a:srgbClr val="DCD8CF"/>
            </a:solidFill>
            <a:prstDash val="solid"/>
          </a:ln>
        </p:spPr>
      </p:sp>
      <p:sp>
        <p:nvSpPr>
          <p:cNvPr id="16" name="Text 14"/>
          <p:cNvSpPr/>
          <p:nvPr/>
        </p:nvSpPr>
        <p:spPr>
          <a:xfrm>
            <a:off x="9150350" y="189607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45535D"/>
                </a:solidFill>
                <a:latin typeface="Domine" pitchFamily="18" charset="0"/>
                <a:ea typeface="Domine" pitchFamily="18" charset="-122"/>
                <a:cs typeface="Domine" pitchFamily="18" charset="-120"/>
              </a:rPr>
              <a:t>1</a:t>
            </a:r>
            <a:endParaRPr lang="en-US" sz="6000" dirty="0"/>
          </a:p>
        </p:txBody>
      </p:sp>
      <p:sp>
        <p:nvSpPr>
          <p:cNvPr id="17" name="Text 15"/>
          <p:cNvSpPr/>
          <p:nvPr/>
        </p:nvSpPr>
        <p:spPr>
          <a:xfrm>
            <a:off x="9150350" y="2785070"/>
            <a:ext cx="20275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Public Sans" pitchFamily="34" charset="0"/>
                <a:ea typeface="Public Sans" pitchFamily="34" charset="-122"/>
                <a:cs typeface="Public Sans" pitchFamily="34" charset="-120"/>
              </a:rPr>
              <a:t>No ejecutado</a:t>
            </a:r>
            <a:endParaRPr lang="en-US" sz="1500" dirty="0"/>
          </a:p>
        </p:txBody>
      </p:sp>
      <p:sp>
        <p:nvSpPr>
          <p:cNvPr id="18" name="Text 16"/>
          <p:cNvSpPr/>
          <p:nvPr/>
        </p:nvSpPr>
        <p:spPr>
          <a:xfrm>
            <a:off x="9150350" y="3102570"/>
            <a:ext cx="202755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35D"/>
                </a:solidFill>
                <a:latin typeface="Public Sans" pitchFamily="34" charset="0"/>
                <a:ea typeface="Public Sans" pitchFamily="34" charset="-122"/>
                <a:cs typeface="Public Sans" pitchFamily="34" charset="-120"/>
              </a:rPr>
              <a:t>CP-10 transiciones no permitidas</a:t>
            </a:r>
            <a:endParaRPr lang="en-US" sz="1300" dirty="0"/>
          </a:p>
        </p:txBody>
      </p:sp>
      <p:sp>
        <p:nvSpPr>
          <p:cNvPr id="19" name="Text 17"/>
          <p:cNvSpPr/>
          <p:nvPr/>
        </p:nvSpPr>
        <p:spPr>
          <a:xfrm>
            <a:off x="812800" y="4411762"/>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15 casos diseñados: 3 negativos, 3 de valor límite, 2 exploratorios, 2 no funcionales, 1 recorrido completo y 1 de privacidad. Bloqueados y no ejecutados no cuentan como aprobados.</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registro maestro de ejecución, sección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834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2B"/>
                </a:solidFill>
                <a:latin typeface="Public Sans" pitchFamily="34" charset="0"/>
                <a:ea typeface="Public Sans" pitchFamily="34" charset="-122"/>
                <a:cs typeface="Public Sans" pitchFamily="34" charset="-120"/>
              </a:rPr>
              <a:t>HALLAZGO DECISIVO · D01 · SEVERIDAD CRÍTICA</a:t>
            </a:r>
            <a:endParaRPr lang="en-US" sz="1200" dirty="0"/>
          </a:p>
        </p:txBody>
      </p:sp>
      <p:sp>
        <p:nvSpPr>
          <p:cNvPr id="3" name="Text 1"/>
          <p:cNvSpPr/>
          <p:nvPr>
            <p:ph type="title"/>
          </p:nvPr>
        </p:nvSpPr>
        <p:spPr>
          <a:xfrm>
            <a:off x="812800" y="181104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212B"/>
                </a:solidFill>
                <a:latin typeface="Domine" pitchFamily="18" charset="0"/>
                <a:ea typeface="Domine" pitchFamily="18" charset="-122"/>
                <a:cs typeface="Domine" pitchFamily="18" charset="-120"/>
              </a:rPr>
              <a:t>El último lugar se puede vender dos veces</a:t>
            </a:r>
            <a:endParaRPr lang="en-US" sz="4000" dirty="0"/>
          </a:p>
        </p:txBody>
      </p:sp>
      <p:sp>
        <p:nvSpPr>
          <p:cNvPr id="4" name="Text 2"/>
          <p:cNvSpPr/>
          <p:nvPr/>
        </p:nvSpPr>
        <p:spPr>
          <a:xfrm>
            <a:off x="812800" y="3154660"/>
            <a:ext cx="523240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2B"/>
                </a:solidFill>
                <a:latin typeface="Domine" pitchFamily="18" charset="0"/>
                <a:ea typeface="Domine" pitchFamily="18" charset="-122"/>
                <a:cs typeface="Domine" pitchFamily="18" charset="-120"/>
              </a:rPr>
              <a:t>36/35</a:t>
            </a:r>
            <a:endParaRPr lang="en-US" sz="6000" dirty="0"/>
          </a:p>
        </p:txBody>
      </p:sp>
      <p:sp>
        <p:nvSpPr>
          <p:cNvPr id="5" name="Text 3"/>
          <p:cNvSpPr/>
          <p:nvPr/>
        </p:nvSpPr>
        <p:spPr>
          <a:xfrm>
            <a:off x="812800" y="4043660"/>
            <a:ext cx="52324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Dos confirmaciones simultáneas por el último lugar: ambas aceptadas en 2 de 3 repeticiones (CP-03, evidencia E03).</a:t>
            </a:r>
            <a:endParaRPr lang="en-US" sz="1500" dirty="0"/>
          </a:p>
        </p:txBody>
      </p:sp>
      <p:sp>
        <p:nvSpPr>
          <p:cNvPr id="6" name="Text 4"/>
          <p:cNvSpPr/>
          <p:nvPr/>
        </p:nvSpPr>
        <p:spPr>
          <a:xfrm>
            <a:off x="6299200" y="3154660"/>
            <a:ext cx="523240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2B"/>
                </a:solidFill>
                <a:latin typeface="Domine" pitchFamily="18" charset="0"/>
                <a:ea typeface="Domine" pitchFamily="18" charset="-122"/>
                <a:cs typeface="Domine" pitchFamily="18" charset="-120"/>
              </a:rPr>
              <a:t>54/35</a:t>
            </a:r>
            <a:endParaRPr lang="en-US" sz="6000" dirty="0"/>
          </a:p>
        </p:txBody>
      </p:sp>
      <p:sp>
        <p:nvSpPr>
          <p:cNvPr id="7" name="Text 5"/>
          <p:cNvSpPr/>
          <p:nvPr/>
        </p:nvSpPr>
        <p:spPr>
          <a:xfrm>
            <a:off x="6299200" y="4043660"/>
            <a:ext cx="52324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2B"/>
                </a:solidFill>
                <a:latin typeface="Public Sans" pitchFamily="34" charset="0"/>
                <a:ea typeface="Public Sans" pitchFamily="34" charset="-122"/>
                <a:cs typeface="Public Sans" pitchFamily="34" charset="-120"/>
              </a:rPr>
              <a:t>Nuestro prototipo sin bloqueo, 20 solicitudes a la vez: sobrecupo en 10 de 10 ráfagas. Con reserva atómica: 35/35 en 30 de 30.</a:t>
            </a:r>
            <a:endParaRPr lang="en-US" sz="1500" dirty="0"/>
          </a:p>
        </p:txBody>
      </p:sp>
      <p:sp>
        <p:nvSpPr>
          <p:cNvPr id="8" name="Text 6"/>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2B"/>
                </a:solidFill>
                <a:latin typeface="Public Sans" pitchFamily="34" charset="0"/>
                <a:ea typeface="Public Sans" pitchFamily="34" charset="-122"/>
                <a:cs typeface="Public Sans" pitchFamily="34" charset="-120"/>
              </a:rPr>
              <a:t>Fuente: E03 (Act. 6) · E02_Evidencia_AUT_Ejecucion.txt (28/10/2026). El prototipo modela la regla; no es la plataforma.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Seis defectos condicionan la liberación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514898"/>
        </p:xfrm>
        <a:graphic>
          <a:graphicData uri="http://schemas.openxmlformats.org/drawingml/2006/table">
            <a:tbl>
              <a:tblPr/>
              <a:tblGrid>
                <a:gridCol w="844296"/>
                <a:gridCol w="5487924"/>
                <a:gridCol w="1688592"/>
                <a:gridCol w="2532888"/>
              </a:tblGrid>
              <a:tr h="359271">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ID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Defecto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Severidad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Reproducción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Confirmaciones simultáneas superan el cupo de 35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Crítica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2 de 3 · E03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Un pago tardío reactiva una solicitud cancelada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Crítica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Traza E7-03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Acepta una materia sin prerrequisito aprobado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Alta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3 de 3 · E02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Reserva cupo cuando fallan prerrequisito y horario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Alta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Traza E7-01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Rechaza la séptima materia válida (regresión 0.6.1)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Alta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Regresión 0.6.1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D06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Botón Confirmar fuera de pantalla en 390×844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Alta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100% · E8-06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315718"/>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Además: pantalla congelada ante corte de red (D07, alta) y datos visibles tras cerrar sesión (D08, media). D10 (octava materia) quedó corregido en 0.6.1.</a:t>
            </a:r>
            <a:endParaRPr lang="en-US" sz="1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reporte de defectos, sección 9 (IDs originales DEF-01…06, H1–H3)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Automatizamos lo que a mano no se repite con confianza</a:t>
            </a:r>
            <a:endParaRPr lang="en-US" sz="3200" dirty="0"/>
          </a:p>
        </p:txBody>
      </p:sp>
      <p:sp>
        <p:nvSpPr>
          <p:cNvPr id="3" name="Shape 1"/>
          <p:cNvSpPr/>
          <p:nvPr/>
        </p:nvSpPr>
        <p:spPr>
          <a:xfrm>
            <a:off x="815975" y="2055416"/>
            <a:ext cx="6115050" cy="2337693"/>
          </a:xfrm>
          <a:prstGeom prst="roundRect">
            <a:avLst>
              <a:gd name="adj" fmla="val 4210"/>
            </a:avLst>
          </a:prstGeom>
          <a:solidFill>
            <a:srgbClr val="FFFFFF"/>
          </a:solidFill>
          <a:ln w="6350">
            <a:solidFill>
              <a:srgbClr val="DCD8CF"/>
            </a:solidFill>
            <a:prstDash val="solid"/>
          </a:ln>
        </p:spPr>
      </p:sp>
      <p:sp>
        <p:nvSpPr>
          <p:cNvPr id="4" name="Text 2"/>
          <p:cNvSpPr/>
          <p:nvPr/>
        </p:nvSpPr>
        <p:spPr>
          <a:xfrm>
            <a:off x="1073150" y="2312591"/>
            <a:ext cx="576872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2B"/>
                </a:solidFill>
                <a:latin typeface="Public Sans" pitchFamily="34" charset="0"/>
                <a:ea typeface="Public Sans" pitchFamily="34" charset="-122"/>
                <a:cs typeface="Public Sans" pitchFamily="34" charset="-120"/>
              </a:rPr>
              <a:t>Prototipo E02 · 7 de 7 pruebas OK</a:t>
            </a:r>
            <a:endParaRPr lang="en-US" sz="1800" dirty="0"/>
          </a:p>
        </p:txBody>
      </p:sp>
      <p:sp>
        <p:nvSpPr>
          <p:cNvPr id="5" name="Text 3"/>
          <p:cNvSpPr/>
          <p:nvPr/>
        </p:nvSpPr>
        <p:spPr>
          <a:xfrm>
            <a:off x="1157732" y="2713831"/>
            <a:ext cx="5676519"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b="1" dirty="0">
                <a:solidFill>
                  <a:srgbClr val="45535D"/>
                </a:solidFill>
                <a:latin typeface="Public Sans" pitchFamily="34" charset="0"/>
                <a:ea typeface="Public Sans" pitchFamily="34" charset="-122"/>
                <a:cs typeface="Public Sans" pitchFamily="34" charset="-120"/>
              </a:rPr>
              <a:t>AUT-01</a:t>
            </a:r>
            <a:r>
              <a:rPr lang="en-US" sz="1400" dirty="0">
                <a:solidFill>
                  <a:srgbClr val="45535D"/>
                </a:solidFill>
                <a:latin typeface="Public Sans" pitchFamily="34" charset="0"/>
                <a:ea typeface="Public Sans" pitchFamily="34" charset="-122"/>
                <a:cs typeface="Public Sans" pitchFamily="34" charset="-120"/>
              </a:rPr>
              <a:t> Tabla de decisión D1–D8 · riesgo R03</a:t>
            </a:r>
            <a:endParaRPr lang="en-US" sz="1400" dirty="0"/>
          </a:p>
          <a:p>
            <a:pPr algn="l" marL="169418" indent="-169418">
              <a:lnSpc>
                <a:spcPts val="2100"/>
              </a:lnSpc>
              <a:buSzPct val="100000"/>
              <a:buChar char="•"/>
            </a:pPr>
            <a:r>
              <a:rPr lang="en-US" sz="1400" b="1" dirty="0">
                <a:solidFill>
                  <a:srgbClr val="45535D"/>
                </a:solidFill>
                <a:latin typeface="Public Sans" pitchFamily="34" charset="0"/>
                <a:ea typeface="Public Sans" pitchFamily="34" charset="-122"/>
                <a:cs typeface="Public Sans" pitchFamily="34" charset="-120"/>
              </a:rPr>
              <a:t>AUT-02</a:t>
            </a:r>
            <a:r>
              <a:rPr lang="en-US" sz="1400" dirty="0">
                <a:solidFill>
                  <a:srgbClr val="45535D"/>
                </a:solidFill>
                <a:latin typeface="Public Sans" pitchFamily="34" charset="0"/>
                <a:ea typeface="Public Sans" pitchFamily="34" charset="-122"/>
                <a:cs typeface="Public Sans" pitchFamily="34" charset="-120"/>
              </a:rPr>
              <a:t> Límites: cupo 34/35, materias 6→7 y 7→8</a:t>
            </a:r>
            <a:endParaRPr lang="en-US" sz="1400" dirty="0"/>
          </a:p>
          <a:p>
            <a:pPr algn="l" marL="169418" indent="-169418">
              <a:lnSpc>
                <a:spcPts val="2100"/>
              </a:lnSpc>
              <a:buSzPct val="100000"/>
              <a:buChar char="•"/>
            </a:pPr>
            <a:r>
              <a:rPr lang="en-US" sz="1400" b="1" dirty="0">
                <a:solidFill>
                  <a:srgbClr val="45535D"/>
                </a:solidFill>
                <a:latin typeface="Public Sans" pitchFamily="34" charset="0"/>
                <a:ea typeface="Public Sans" pitchFamily="34" charset="-122"/>
                <a:cs typeface="Public Sans" pitchFamily="34" charset="-120"/>
              </a:rPr>
              <a:t>AUT-03</a:t>
            </a:r>
            <a:r>
              <a:rPr lang="en-US" sz="1400" dirty="0">
                <a:solidFill>
                  <a:srgbClr val="45535D"/>
                </a:solidFill>
                <a:latin typeface="Public Sans" pitchFamily="34" charset="0"/>
                <a:ea typeface="Public Sans" pitchFamily="34" charset="-122"/>
                <a:cs typeface="Public Sans" pitchFamily="34" charset="-120"/>
              </a:rPr>
              <a:t> 30 ráfagas de 20 solicitudes por el último lugar · R01</a:t>
            </a:r>
            <a:endParaRPr lang="en-US" sz="1400" dirty="0"/>
          </a:p>
        </p:txBody>
      </p:sp>
      <p:sp>
        <p:nvSpPr>
          <p:cNvPr id="6" name="Text 4"/>
          <p:cNvSpPr/>
          <p:nvPr/>
        </p:nvSpPr>
        <p:spPr>
          <a:xfrm>
            <a:off x="1073150" y="3640931"/>
            <a:ext cx="576872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35D"/>
                </a:solidFill>
                <a:latin typeface="Public Sans" pitchFamily="34" charset="0"/>
                <a:ea typeface="Public Sans" pitchFamily="34" charset="-122"/>
                <a:cs typeface="Public Sans" pitchFamily="34" charset="-120"/>
              </a:rPr>
              <a:t>1 fallo esperado: el modo v0.6 reproduce el sobrecupo. Python 3.11, sin librerías externas; corrida del 28/10/2026.</a:t>
            </a:r>
            <a:endParaRPr lang="en-US" sz="1300" dirty="0"/>
          </a:p>
        </p:txBody>
      </p:sp>
      <p:sp>
        <p:nvSpPr>
          <p:cNvPr id="7" name="Shape 5"/>
          <p:cNvSpPr/>
          <p:nvPr/>
        </p:nvSpPr>
        <p:spPr>
          <a:xfrm>
            <a:off x="7137400" y="2052241"/>
            <a:ext cx="4241800" cy="2344043"/>
          </a:xfrm>
          <a:prstGeom prst="roundRect">
            <a:avLst>
              <a:gd name="adj" fmla="val 4334"/>
            </a:avLst>
          </a:prstGeom>
          <a:solidFill>
            <a:srgbClr val="14212B"/>
          </a:solidFill>
          <a:ln/>
        </p:spPr>
      </p:sp>
      <p:sp>
        <p:nvSpPr>
          <p:cNvPr id="8" name="Text 6"/>
          <p:cNvSpPr/>
          <p:nvPr/>
        </p:nvSpPr>
        <p:spPr>
          <a:xfrm>
            <a:off x="7391400" y="2306241"/>
            <a:ext cx="38458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ublic Sans" pitchFamily="34" charset="0"/>
                <a:ea typeface="Public Sans" pitchFamily="34" charset="-122"/>
                <a:cs typeface="Public Sans" pitchFamily="34" charset="-120"/>
              </a:rPr>
              <a:t>Distribución</a:t>
            </a:r>
            <a:endParaRPr lang="en-US" sz="1800" dirty="0"/>
          </a:p>
        </p:txBody>
      </p:sp>
      <p:sp>
        <p:nvSpPr>
          <p:cNvPr id="9" name="Text 7"/>
          <p:cNvSpPr/>
          <p:nvPr/>
        </p:nvSpPr>
        <p:spPr>
          <a:xfrm>
            <a:off x="7391400" y="2682081"/>
            <a:ext cx="38458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D8"/>
                </a:solidFill>
                <a:latin typeface="Public Sans" pitchFamily="34" charset="0"/>
                <a:ea typeface="Public Sans" pitchFamily="34" charset="-122"/>
                <a:cs typeface="Public Sans" pitchFamily="34" charset="-120"/>
              </a:rPr>
              <a:t>Ahora:</a:t>
            </a:r>
            <a:r>
              <a:rPr lang="en-US" sz="1300" dirty="0">
                <a:solidFill>
                  <a:srgbClr val="C9D3D8"/>
                </a:solidFill>
                <a:latin typeface="Public Sans" pitchFamily="34" charset="0"/>
                <a:ea typeface="Public Sans" pitchFamily="34" charset="-122"/>
                <a:cs typeface="Public Sans" pitchFamily="34" charset="-120"/>
              </a:rPr>
              <a:t> AUT-01..03, login</a:t>
            </a:r>
            <a:endParaRPr lang="en-US" sz="1300" dirty="0"/>
          </a:p>
        </p:txBody>
      </p:sp>
      <p:sp>
        <p:nvSpPr>
          <p:cNvPr id="10" name="Text 8"/>
          <p:cNvSpPr/>
          <p:nvPr/>
        </p:nvSpPr>
        <p:spPr>
          <a:xfrm>
            <a:off x="7391400" y="3014762"/>
            <a:ext cx="38458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D8"/>
                </a:solidFill>
                <a:latin typeface="Public Sans" pitchFamily="34" charset="0"/>
                <a:ea typeface="Public Sans" pitchFamily="34" charset="-122"/>
                <a:cs typeface="Public Sans" pitchFamily="34" charset="-120"/>
              </a:rPr>
              <a:t>Después:</a:t>
            </a:r>
            <a:r>
              <a:rPr lang="en-US" sz="1300" dirty="0">
                <a:solidFill>
                  <a:srgbClr val="C9D3D8"/>
                </a:solidFill>
                <a:latin typeface="Public Sans" pitchFamily="34" charset="0"/>
                <a:ea typeface="Public Sans" pitchFamily="34" charset="-122"/>
                <a:cs typeface="Public Sans" pitchFamily="34" charset="-120"/>
              </a:rPr>
              <a:t> pago rechazado con stub</a:t>
            </a:r>
            <a:endParaRPr lang="en-US" sz="1300" dirty="0"/>
          </a:p>
        </p:txBody>
      </p:sp>
      <p:sp>
        <p:nvSpPr>
          <p:cNvPr id="11" name="Text 9"/>
          <p:cNvSpPr/>
          <p:nvPr/>
        </p:nvSpPr>
        <p:spPr>
          <a:xfrm>
            <a:off x="7391400" y="3347442"/>
            <a:ext cx="3845814"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D8"/>
                </a:solidFill>
                <a:latin typeface="Public Sans" pitchFamily="34" charset="0"/>
                <a:ea typeface="Public Sans" pitchFamily="34" charset="-122"/>
                <a:cs typeface="Public Sans" pitchFamily="34" charset="-120"/>
              </a:rPr>
              <a:t>Manual:</a:t>
            </a:r>
            <a:r>
              <a:rPr lang="en-US" sz="1300" dirty="0">
                <a:solidFill>
                  <a:srgbClr val="C9D3D8"/>
                </a:solidFill>
                <a:latin typeface="Public Sans" pitchFamily="34" charset="0"/>
                <a:ea typeface="Public Sans" pitchFamily="34" charset="-122"/>
                <a:cs typeface="Public Sans" pitchFamily="34" charset="-120"/>
              </a:rPr>
              <a:t> apariencia en pantallas, claridad de mensajes</a:t>
            </a:r>
            <a:endParaRPr lang="en-US" sz="1300" dirty="0"/>
          </a:p>
        </p:txBody>
      </p:sp>
      <p:sp>
        <p:nvSpPr>
          <p:cNvPr id="12" name="Text 10"/>
          <p:cNvSpPr/>
          <p:nvPr/>
        </p:nvSpPr>
        <p:spPr>
          <a:xfrm>
            <a:off x="7391400" y="3911203"/>
            <a:ext cx="3987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D8"/>
                </a:solidFill>
                <a:latin typeface="Public Sans" pitchFamily="34" charset="0"/>
                <a:ea typeface="Public Sans" pitchFamily="34" charset="-122"/>
                <a:cs typeface="Public Sans" pitchFamily="34" charset="-120"/>
              </a:rPr>
              <a:t>Exploratoria:</a:t>
            </a:r>
            <a:r>
              <a:rPr lang="en-US" sz="1300" dirty="0">
                <a:solidFill>
                  <a:srgbClr val="C9D3D8"/>
                </a:solidFill>
                <a:latin typeface="Public Sans" pitchFamily="34" charset="0"/>
                <a:ea typeface="Public Sans" pitchFamily="34" charset="-122"/>
                <a:cs typeface="Public Sans" pitchFamily="34" charset="-120"/>
              </a:rPr>
              <a:t> interrupciones y rutas inesperadas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carpeta E02_Automatizacion; backlog de la Act.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La IA aceleró el trabajo; las decisiones fueron del equipo</a:t>
            </a:r>
            <a:endParaRPr lang="en-US" sz="3200" dirty="0"/>
          </a:p>
        </p:txBody>
      </p:sp>
      <p:sp>
        <p:nvSpPr>
          <p:cNvPr id="3" name="Shape 1"/>
          <p:cNvSpPr/>
          <p:nvPr/>
        </p:nvSpPr>
        <p:spPr>
          <a:xfrm>
            <a:off x="815975" y="2055416"/>
            <a:ext cx="3384550" cy="1885553"/>
          </a:xfrm>
          <a:prstGeom prst="roundRect">
            <a:avLst>
              <a:gd name="adj" fmla="val 5220"/>
            </a:avLst>
          </a:prstGeom>
          <a:solidFill>
            <a:srgbClr val="FFFFFF"/>
          </a:solidFill>
          <a:ln w="6350">
            <a:solidFill>
              <a:srgbClr val="DCD8CF"/>
            </a:solidFill>
            <a:prstDash val="solid"/>
          </a:ln>
        </p:spPr>
      </p:sp>
      <p:sp>
        <p:nvSpPr>
          <p:cNvPr id="4" name="Text 2"/>
          <p:cNvSpPr/>
          <p:nvPr/>
        </p:nvSpPr>
        <p:spPr>
          <a:xfrm>
            <a:off x="1073150" y="231259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2B"/>
                </a:solidFill>
                <a:latin typeface="Public Sans" pitchFamily="34" charset="0"/>
                <a:ea typeface="Public Sans" pitchFamily="34" charset="-122"/>
                <a:cs typeface="Public Sans" pitchFamily="34" charset="-120"/>
              </a:rPr>
              <a:t>Integrar el expediente</a:t>
            </a:r>
            <a:endParaRPr lang="en-US" sz="1800" dirty="0"/>
          </a:p>
        </p:txBody>
      </p:sp>
      <p:sp>
        <p:nvSpPr>
          <p:cNvPr id="5" name="Text 3"/>
          <p:cNvSpPr/>
          <p:nvPr/>
        </p:nvSpPr>
        <p:spPr>
          <a:xfrm>
            <a:off x="1073150" y="2688431"/>
            <a:ext cx="295630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Consolidó las actividades 1–11 en riesgos, casos y trazabilidad. Verificamos cada dato contra los PDF de origen.</a:t>
            </a:r>
            <a:endParaRPr lang="en-US" sz="1400" dirty="0"/>
          </a:p>
        </p:txBody>
      </p:sp>
      <p:sp>
        <p:nvSpPr>
          <p:cNvPr id="6" name="Shape 4"/>
          <p:cNvSpPr/>
          <p:nvPr/>
        </p:nvSpPr>
        <p:spPr>
          <a:xfrm>
            <a:off x="4410075" y="2055416"/>
            <a:ext cx="3384550" cy="1885553"/>
          </a:xfrm>
          <a:prstGeom prst="roundRect">
            <a:avLst>
              <a:gd name="adj" fmla="val 5220"/>
            </a:avLst>
          </a:prstGeom>
          <a:solidFill>
            <a:srgbClr val="FFFFFF"/>
          </a:solidFill>
          <a:ln w="6350">
            <a:solidFill>
              <a:srgbClr val="DCD8CF"/>
            </a:solidFill>
            <a:prstDash val="solid"/>
          </a:ln>
        </p:spPr>
      </p:sp>
      <p:sp>
        <p:nvSpPr>
          <p:cNvPr id="7" name="Text 5"/>
          <p:cNvSpPr/>
          <p:nvPr/>
        </p:nvSpPr>
        <p:spPr>
          <a:xfrm>
            <a:off x="4667250" y="231259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2B"/>
                </a:solidFill>
                <a:latin typeface="Public Sans" pitchFamily="34" charset="0"/>
                <a:ea typeface="Public Sans" pitchFamily="34" charset="-122"/>
                <a:cs typeface="Public Sans" pitchFamily="34" charset="-120"/>
              </a:rPr>
              <a:t>Generar el prototipo</a:t>
            </a:r>
            <a:endParaRPr lang="en-US" sz="1800" dirty="0"/>
          </a:p>
        </p:txBody>
      </p:sp>
      <p:sp>
        <p:nvSpPr>
          <p:cNvPr id="8" name="Text 6"/>
          <p:cNvSpPr/>
          <p:nvPr/>
        </p:nvSpPr>
        <p:spPr>
          <a:xfrm>
            <a:off x="4667250" y="2688431"/>
            <a:ext cx="295630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Propuso el código de AUT-01..03. Lo ejecutamos y comparamos cada aserción con las reglas RN1–RN3.</a:t>
            </a:r>
            <a:endParaRPr lang="en-US" sz="1400" dirty="0"/>
          </a:p>
        </p:txBody>
      </p:sp>
      <p:sp>
        <p:nvSpPr>
          <p:cNvPr id="9" name="Shape 7"/>
          <p:cNvSpPr/>
          <p:nvPr/>
        </p:nvSpPr>
        <p:spPr>
          <a:xfrm>
            <a:off x="8001000" y="2052241"/>
            <a:ext cx="3378200" cy="1891903"/>
          </a:xfrm>
          <a:prstGeom prst="roundRect">
            <a:avLst>
              <a:gd name="adj" fmla="val 5370"/>
            </a:avLst>
          </a:prstGeom>
          <a:solidFill>
            <a:srgbClr val="14212B"/>
          </a:solidFill>
          <a:ln/>
        </p:spPr>
      </p:sp>
      <p:sp>
        <p:nvSpPr>
          <p:cNvPr id="10" name="Text 8"/>
          <p:cNvSpPr/>
          <p:nvPr/>
        </p:nvSpPr>
        <p:spPr>
          <a:xfrm>
            <a:off x="8255000" y="230624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06B"/>
                </a:solidFill>
                <a:latin typeface="Public Sans" pitchFamily="34" charset="0"/>
                <a:ea typeface="Public Sans" pitchFamily="34" charset="-122"/>
                <a:cs typeface="Public Sans" pitchFamily="34" charset="-120"/>
              </a:rPr>
              <a:t>No se delega</a:t>
            </a:r>
            <a:endParaRPr lang="en-US" sz="1800" dirty="0"/>
          </a:p>
        </p:txBody>
      </p:sp>
      <p:sp>
        <p:nvSpPr>
          <p:cNvPr id="11" name="Text 9"/>
          <p:cNvSpPr/>
          <p:nvPr/>
        </p:nvSpPr>
        <p:spPr>
          <a:xfrm>
            <a:off x="8255000" y="2682081"/>
            <a:ext cx="295630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8"/>
                </a:solidFill>
                <a:latin typeface="Public Sans" pitchFamily="34" charset="0"/>
                <a:ea typeface="Public Sans" pitchFamily="34" charset="-122"/>
                <a:cs typeface="Public Sans" pitchFamily="34" charset="-120"/>
              </a:rPr>
              <a:t>El dictamen, la severidad de los defectos y la aceptación del riesgo residual.</a:t>
            </a:r>
            <a:endParaRPr lang="en-US" sz="1400" dirty="0"/>
          </a:p>
        </p:txBody>
      </p:sp>
      <p:sp>
        <p:nvSpPr>
          <p:cNvPr id="12" name="Text 10"/>
          <p:cNvSpPr/>
          <p:nvPr/>
        </p:nvSpPr>
        <p:spPr>
          <a:xfrm>
            <a:off x="812800" y="424894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35D"/>
                </a:solidFill>
                <a:latin typeface="Public Sans" pitchFamily="34" charset="0"/>
                <a:ea typeface="Public Sans" pitchFamily="34" charset="-122"/>
                <a:cs typeface="Public Sans" pitchFamily="34" charset="-120"/>
              </a:rPr>
              <a:t>Sin datos sensibles compartidos. La IA no inventó resultados: cada estado proviene de una evidencia identificada.</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registro de uso de IA, sección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Ningún indicador cumple su meta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3233440"/>
        </p:xfrm>
        <a:graphic>
          <a:graphicData uri="http://schemas.openxmlformats.org/drawingml/2006/table">
            <a:tbl>
              <a:tblPr/>
              <a:tblGrid>
                <a:gridCol w="3588258"/>
                <a:gridCol w="3799332"/>
                <a:gridCol w="3166110"/>
              </a:tblGrid>
              <a:tr h="359271">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Indicador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Valor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Meta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Casos ejecutados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12 de 15 (80%)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15 de 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Porcentaje aprobado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3 de 12 (25%)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95% o más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Riesgos prioritarios cubiertos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4 de 5 (R02 bloqueado)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5 de 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Críticos y altos abiertos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7 (2 críticos, 5 altos)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Requisitos con evidencia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6 de 8 (faltan pago y carga)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8 de 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Pruebas bloqueadas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2 de 15 + 1 no ejecutada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0 en riesgos prioritarios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Riesgo residual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Alto: 2 riesgos de 20 sin control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Bajo o aceptado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Integridad de cupo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36/35 en 2 de 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0 sobrecupos en 30 ráfagas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Fuente: tablero ejecutivo, sección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6B"/>
                </a:solidFill>
                <a:latin typeface="Public Sans" pitchFamily="34" charset="0"/>
                <a:ea typeface="Public Sans" pitchFamily="34" charset="-122"/>
                <a:cs typeface="Public Sans" pitchFamily="34" charset="-120"/>
              </a:rPr>
              <a:t>DICTAMEN DE LIBERACIÓN</a:t>
            </a:r>
            <a:endParaRPr lang="en-US" sz="1200" dirty="0"/>
          </a:p>
        </p:txBody>
      </p:sp>
      <p:sp>
        <p:nvSpPr>
          <p:cNvPr id="3" name="Text 1"/>
          <p:cNvSpPr/>
          <p:nvPr>
            <p:ph type="title"/>
          </p:nvPr>
        </p:nvSpPr>
        <p:spPr>
          <a:xfrm>
            <a:off x="812800" y="133092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F"/>
                </a:solidFill>
                <a:latin typeface="Domine" pitchFamily="18" charset="0"/>
                <a:ea typeface="Domine" pitchFamily="18" charset="-122"/>
                <a:cs typeface="Domine" pitchFamily="18" charset="-120"/>
              </a:rPr>
              <a:t>No liberar</a:t>
            </a:r>
            <a:endParaRPr lang="en-US" sz="4800" dirty="0"/>
          </a:p>
        </p:txBody>
      </p:sp>
      <p:sp>
        <p:nvSpPr>
          <p:cNvPr id="4" name="Shape 2"/>
          <p:cNvSpPr/>
          <p:nvPr/>
        </p:nvSpPr>
        <p:spPr>
          <a:xfrm>
            <a:off x="812800" y="2318941"/>
            <a:ext cx="3386634" cy="0"/>
          </a:xfrm>
          <a:prstGeom prst="line">
            <a:avLst/>
          </a:prstGeom>
          <a:noFill/>
          <a:ln w="25400">
            <a:solidFill>
              <a:srgbClr val="F0A06B"/>
            </a:solidFill>
            <a:prstDash val="solid"/>
          </a:ln>
        </p:spPr>
      </p:sp>
      <p:sp>
        <p:nvSpPr>
          <p:cNvPr id="5" name="Text 3"/>
          <p:cNvSpPr/>
          <p:nvPr/>
        </p:nvSpPr>
        <p:spPr>
          <a:xfrm>
            <a:off x="812800" y="2484041"/>
            <a:ext cx="34882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ublic Sans" pitchFamily="34" charset="0"/>
                <a:ea typeface="Public Sans" pitchFamily="34" charset="-122"/>
                <a:cs typeface="Public Sans" pitchFamily="34" charset="-120"/>
              </a:rPr>
              <a:t>Por qué</a:t>
            </a:r>
            <a:endParaRPr lang="en-US" sz="1800" dirty="0"/>
          </a:p>
        </p:txBody>
      </p:sp>
      <p:sp>
        <p:nvSpPr>
          <p:cNvPr id="6" name="Text 4"/>
          <p:cNvSpPr/>
          <p:nvPr/>
        </p:nvSpPr>
        <p:spPr>
          <a:xfrm>
            <a:off x="812800" y="2859881"/>
            <a:ext cx="3488233"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8"/>
                </a:solidFill>
                <a:latin typeface="Public Sans" pitchFamily="34" charset="0"/>
                <a:ea typeface="Public Sans" pitchFamily="34" charset="-122"/>
                <a:cs typeface="Public Sans" pitchFamily="34" charset="-120"/>
              </a:rPr>
              <a:t>Dos defectos críticos abiertos (sobrecupo y pago tardío) y una plataforma que no se puede confirmar desde el móvil.</a:t>
            </a:r>
            <a:endParaRPr lang="en-US" sz="1400" dirty="0"/>
          </a:p>
        </p:txBody>
      </p:sp>
      <p:sp>
        <p:nvSpPr>
          <p:cNvPr id="7" name="Shape 5"/>
          <p:cNvSpPr/>
          <p:nvPr/>
        </p:nvSpPr>
        <p:spPr>
          <a:xfrm>
            <a:off x="4402634" y="2318941"/>
            <a:ext cx="3386733" cy="0"/>
          </a:xfrm>
          <a:prstGeom prst="line">
            <a:avLst/>
          </a:prstGeom>
          <a:noFill/>
          <a:ln w="25400">
            <a:solidFill>
              <a:srgbClr val="F0A06B"/>
            </a:solidFill>
            <a:prstDash val="solid"/>
          </a:ln>
        </p:spPr>
      </p:sp>
      <p:sp>
        <p:nvSpPr>
          <p:cNvPr id="8" name="Text 6"/>
          <p:cNvSpPr/>
          <p:nvPr/>
        </p:nvSpPr>
        <p:spPr>
          <a:xfrm>
            <a:off x="4402634" y="2484041"/>
            <a:ext cx="34883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ublic Sans" pitchFamily="34" charset="0"/>
                <a:ea typeface="Public Sans" pitchFamily="34" charset="-122"/>
                <a:cs typeface="Public Sans" pitchFamily="34" charset="-120"/>
              </a:rPr>
              <a:t>Acciones obligatorias</a:t>
            </a:r>
            <a:endParaRPr lang="en-US" sz="1800" dirty="0"/>
          </a:p>
        </p:txBody>
      </p:sp>
      <p:sp>
        <p:nvSpPr>
          <p:cNvPr id="9" name="Text 7"/>
          <p:cNvSpPr/>
          <p:nvPr/>
        </p:nvSpPr>
        <p:spPr>
          <a:xfrm>
            <a:off x="4402634" y="2859881"/>
            <a:ext cx="34883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8"/>
                </a:solidFill>
                <a:latin typeface="Public Sans" pitchFamily="34" charset="0"/>
                <a:ea typeface="Public Sans" pitchFamily="34" charset="-122"/>
                <a:cs typeface="Public Sans" pitchFamily="34" charset="-120"/>
              </a:rPr>
              <a:t>Corregir D01–D06, ejecutar carga (CP-11) y pago en sandbox (CP-06), regresión con AUT-01..03 en verde.</a:t>
            </a:r>
            <a:endParaRPr lang="en-US" sz="1400" dirty="0"/>
          </a:p>
        </p:txBody>
      </p:sp>
      <p:sp>
        <p:nvSpPr>
          <p:cNvPr id="10" name="Shape 8"/>
          <p:cNvSpPr/>
          <p:nvPr/>
        </p:nvSpPr>
        <p:spPr>
          <a:xfrm>
            <a:off x="7992566" y="2318941"/>
            <a:ext cx="3386634" cy="0"/>
          </a:xfrm>
          <a:prstGeom prst="line">
            <a:avLst/>
          </a:prstGeom>
          <a:noFill/>
          <a:ln w="25400">
            <a:solidFill>
              <a:srgbClr val="F0A06B"/>
            </a:solidFill>
            <a:prstDash val="solid"/>
          </a:ln>
        </p:spPr>
      </p:sp>
      <p:sp>
        <p:nvSpPr>
          <p:cNvPr id="11" name="Text 9"/>
          <p:cNvSpPr/>
          <p:nvPr/>
        </p:nvSpPr>
        <p:spPr>
          <a:xfrm>
            <a:off x="7992566" y="2484041"/>
            <a:ext cx="348823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F"/>
                </a:solidFill>
                <a:latin typeface="Public Sans" pitchFamily="34" charset="0"/>
                <a:ea typeface="Public Sans" pitchFamily="34" charset="-122"/>
                <a:cs typeface="Public Sans" pitchFamily="34" charset="-120"/>
              </a:rPr>
              <a:t>Reevaluar cuando</a:t>
            </a:r>
            <a:endParaRPr lang="en-US" sz="1800" dirty="0"/>
          </a:p>
        </p:txBody>
      </p:sp>
      <p:sp>
        <p:nvSpPr>
          <p:cNvPr id="12" name="Text 10"/>
          <p:cNvSpPr/>
          <p:nvPr/>
        </p:nvSpPr>
        <p:spPr>
          <a:xfrm>
            <a:off x="7992566" y="2859881"/>
            <a:ext cx="348823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8"/>
                </a:solidFill>
                <a:latin typeface="Public Sans" pitchFamily="34" charset="0"/>
                <a:ea typeface="Public Sans" pitchFamily="34" charset="-122"/>
                <a:cs typeface="Public Sans" pitchFamily="34" charset="-120"/>
              </a:rPr>
              <a:t>100% de los casos de R01–R05 ejecutados y 0 defectos críticos o altos abiertos.</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C"/>
                </a:solidFill>
                <a:latin typeface="Public Sans" pitchFamily="34" charset="0"/>
                <a:ea typeface="Public Sans" pitchFamily="34" charset="-122"/>
                <a:cs typeface="Public Sans" pitchFamily="34" charset="-120"/>
              </a:rPr>
              <a:t>Riesgo residual tras corregir: otras resoluciones móviles y caducidad de reservas. Vigilar inscritos &gt; capacidad y pagos sin inscripción.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2B"/>
                </a:solidFill>
                <a:latin typeface="Domine" pitchFamily="18" charset="0"/>
                <a:ea typeface="Domine" pitchFamily="18" charset="-122"/>
                <a:cs typeface="Domine" pitchFamily="18" charset="-120"/>
              </a:rPr>
              <a:t>Respuestas preparadas para el comité</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617788"/>
        </p:xfrm>
        <a:graphic>
          <a:graphicData uri="http://schemas.openxmlformats.org/drawingml/2006/table">
            <a:tbl>
              <a:tblPr/>
              <a:tblGrid>
                <a:gridCol w="4010406"/>
                <a:gridCol w="6543294"/>
              </a:tblGrid>
              <a:tr h="359271">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Pregunta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c>
                  <a:txBody>
                    <a:bodyPr/>
                    <a:lstStyle/>
                    <a:p>
                      <a:pPr indent="0" marL="0">
                        <a:lnSpc>
                          <a:spcPts val="1820"/>
                        </a:lnSpc>
                        <a:buNone/>
                      </a:pPr>
                      <a:r>
                        <a:rPr lang="en-US" sz="1300" b="1" dirty="0">
                          <a:solidFill>
                            <a:srgbClr val="14212B"/>
                          </a:solidFill>
                          <a:latin typeface="Public Sans" pitchFamily="34" charset="0"/>
                          <a:ea typeface="Public Sans" pitchFamily="34" charset="-122"/>
                          <a:cs typeface="Public Sans" pitchFamily="34" charset="-120"/>
                        </a:rPr>
                        <a:t>Nuestra respuesta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2D8"/>
                    </a:solidFill>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¿Qué riesgo podría no estar cubierto?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R02, saturación: CP-11 diseñado pero bloqueado. Es desconocido, no aprobado.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¿Qué evidencia demuestra la conclusión?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E03 (36/35) reproducido por AUT-03; E02 (3 de 3); E7-03; E8-06 (100%).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¿Qué defecto cambiaría la decisión?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Corregir D01 y D04 con regresión en verde permitiría pasar a “liberar con condiciones”.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¿Qué dependió demasiado de la IA?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La redacción y la consolidación; la evidencia viene de las rondas 0.6, 0.6.1, 0.7 y del script ejecutado.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¿Qué prueba repetir?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4212B"/>
                          </a:solidFill>
                          <a:latin typeface="Public Sans" pitchFamily="34" charset="0"/>
                          <a:ea typeface="Public Sans" pitchFamily="34" charset="-122"/>
                          <a:cs typeface="Public Sans" pitchFamily="34" charset="-120"/>
                        </a:rPr>
                        <a:t>CP-03 con más repeticiones sobre la versión corregida, y CP-05 como regresión.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5"/>
                </a:solidFill>
                <a:latin typeface="Public Sans" pitchFamily="34" charset="0"/>
                <a:ea typeface="Public Sans" pitchFamily="34" charset="-122"/>
                <a:cs typeface="Public Sans" pitchFamily="34" charset="-120"/>
              </a:rPr>
              <a:t>Equipo 2 · InscribeUAQ · Diapositiva de respaldo para preguntas (2 min)</a:t>
            </a:r>
            <a:endParaRPr lang="en-US" sz="1200" dirty="0"/>
          </a:p>
        </p:txBody>
      </p:sp>
    </p:spTree>
  </p:cSld>
  <p:clrMapOvr>
    <a:masterClrMapping/>
  </p:clrMapOvr>
</p:sld>
</file>

<file path=ppt/theme/theme1.xml><?xml version="1.0" encoding="utf-8"?>
<a:theme xmlns:a="http://schemas.openxmlformats.org/drawingml/2006/main" name="InscribeUAQ – Dictamen de calidad (Equipo 2)">
  <a:themeElements>
    <a:clrScheme name="InscribeUAQ – Dictamen de calidad (Equipo 2)">
      <a:dk1>
        <a:srgbClr val="14212B"/>
      </a:dk1>
      <a:lt1>
        <a:srgbClr val="F6F4EF"/>
      </a:lt1>
      <a:dk2>
        <a:srgbClr val="4D565C"/>
      </a:dk2>
      <a:lt2>
        <a:srgbClr val="DFDFDB"/>
      </a:lt2>
      <a:accent1>
        <a:srgbClr val="F0A06B"/>
      </a:accent1>
      <a:accent2>
        <a:srgbClr val="2E6F95"/>
      </a:accent2>
      <a:accent3>
        <a:srgbClr val="C2541E"/>
      </a:accent3>
      <a:accent4>
        <a:srgbClr val="E8834A"/>
      </a:accent4>
      <a:accent5>
        <a:srgbClr val="45535D"/>
      </a:accent5>
      <a:accent6>
        <a:srgbClr val="C9D3D8"/>
      </a:accent6>
      <a:hlink>
        <a:srgbClr val="0563C1"/>
      </a:hlink>
      <a:folHlink>
        <a:srgbClr val="954F72"/>
      </a:folHlink>
    </a:clrScheme>
    <a:fontScheme name="InscribeUAQ – Dictamen de calidad (Equipo 2)">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InscribeUAQ – Dictamen de calidad (Equipo 2)</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2026-10-29T04:27:46Z</dcterms:created>
  <dcterms:modified xsi:type="dcterms:W3CDTF">2026-10-29T04:27:46Z</dcterms:modified>
</cp:coreProperties>
</file>